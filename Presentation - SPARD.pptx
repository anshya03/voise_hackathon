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elvetica World" charset="1" panose="020B0500040000020004"/>
      <p:regular r:id="rId12"/>
    </p:embeddedFont>
    <p:embeddedFont>
      <p:font typeface="Georgia Pro Condensed" charset="1" panose="02040506050405020303"/>
      <p:regular r:id="rId13"/>
    </p:embeddedFont>
    <p:embeddedFont>
      <p:font typeface="Canva Sans" charset="1" panose="020B0503030501040103"/>
      <p:regular r:id="rId14"/>
    </p:embeddedFont>
    <p:embeddedFont>
      <p:font typeface="Montserrat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C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EAF3E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144385"/>
            <a:ext cx="7219950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800" spc="-57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Aditya Raj - 1MS23IS005</a:t>
            </a:r>
          </a:p>
          <a:p>
            <a:pPr algn="l">
              <a:lnSpc>
                <a:spcPts val="4940"/>
              </a:lnSpc>
            </a:pPr>
            <a:r>
              <a:rPr lang="en-US" sz="3800" spc="-57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Anish D Tabib - 1MS23IS015</a:t>
            </a:r>
          </a:p>
          <a:p>
            <a:pPr algn="l">
              <a:lnSpc>
                <a:spcPts val="4940"/>
              </a:lnSpc>
            </a:pPr>
            <a:r>
              <a:rPr lang="en-US" sz="3800" spc="-57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Anshya Kachroo - 1MS23IS017</a:t>
            </a:r>
          </a:p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Aadya Banninthaya - 1MS23IS001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4285" y="942975"/>
            <a:ext cx="6612415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4A663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SPARD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375" y="2898002"/>
            <a:ext cx="7553325" cy="134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6"/>
              </a:lnSpc>
            </a:pPr>
            <a:r>
              <a:rPr lang="en-US" sz="3861">
                <a:solidFill>
                  <a:srgbClr val="4A663D"/>
                </a:solidFill>
                <a:latin typeface="Canva Sans"/>
                <a:ea typeface="Canva Sans"/>
                <a:cs typeface="Canva Sans"/>
                <a:sym typeface="Canva Sans"/>
              </a:rPr>
              <a:t>Smart Prescription Analyzer Risk Detector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BE2A7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4A663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0009"/>
            <a:ext cx="15723650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4594" indent="-387297" lvl="1">
              <a:lnSpc>
                <a:spcPts val="4305"/>
              </a:lnSpc>
              <a:buFont typeface="Arial"/>
              <a:buChar char="•"/>
            </a:pPr>
            <a:r>
              <a:rPr lang="en-US" sz="3587" spc="-53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Patients often visit multiple doctors for different health issues.</a:t>
            </a:r>
          </a:p>
          <a:p>
            <a:pPr algn="l" marL="774594" indent="-387297" lvl="1">
              <a:lnSpc>
                <a:spcPts val="4305"/>
              </a:lnSpc>
              <a:buFont typeface="Arial"/>
              <a:buChar char="•"/>
            </a:pPr>
            <a:r>
              <a:rPr lang="en-US" sz="3587" spc="-53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They frequently forget or do not carry previous prescriptions.</a:t>
            </a:r>
          </a:p>
          <a:p>
            <a:pPr algn="l" marL="774594" indent="-387297" lvl="1">
              <a:lnSpc>
                <a:spcPts val="4305"/>
              </a:lnSpc>
              <a:buFont typeface="Arial"/>
              <a:buChar char="•"/>
            </a:pPr>
            <a:r>
              <a:rPr lang="en-US" sz="3587" spc="-53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This leads to accidental mixing of medicines from different doctors.</a:t>
            </a:r>
          </a:p>
          <a:p>
            <a:pPr algn="l" marL="774594" indent="-387297" lvl="1">
              <a:lnSpc>
                <a:spcPts val="4305"/>
              </a:lnSpc>
              <a:buFont typeface="Arial"/>
              <a:buChar char="•"/>
            </a:pPr>
            <a:r>
              <a:rPr lang="en-US" sz="3587" spc="-53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Such combinations can cause serious drug–drug interactions or allergy reactions.</a:t>
            </a:r>
          </a:p>
          <a:p>
            <a:pPr algn="l" marL="774594" indent="-387297" lvl="1">
              <a:lnSpc>
                <a:spcPts val="4305"/>
              </a:lnSpc>
              <a:spcBef>
                <a:spcPct val="0"/>
              </a:spcBef>
              <a:buFont typeface="Arial"/>
              <a:buChar char="•"/>
            </a:pPr>
            <a:r>
              <a:rPr lang="en-US" sz="3587" spc="-53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-US" sz="3587" spc="-53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re is no simple system to warn patients about these risks before consuming the medicines.</a:t>
            </a:r>
          </a:p>
          <a:p>
            <a:pPr algn="l" marL="0" indent="0" lvl="0">
              <a:lnSpc>
                <a:spcPts val="4305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AF3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07415" y="0"/>
            <a:ext cx="6580585" cy="10287000"/>
            <a:chOff x="0" y="0"/>
            <a:chExt cx="864212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4212" cy="1350966"/>
            </a:xfrm>
            <a:custGeom>
              <a:avLst/>
              <a:gdLst/>
              <a:ahLst/>
              <a:cxnLst/>
              <a:rect r="r" b="b" t="t" l="l"/>
              <a:pathLst>
                <a:path h="1350966" w="864212">
                  <a:moveTo>
                    <a:pt x="0" y="0"/>
                  </a:moveTo>
                  <a:lnTo>
                    <a:pt x="864212" y="0"/>
                  </a:lnTo>
                  <a:lnTo>
                    <a:pt x="864212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20540" t="0" r="-2054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80483" y="424410"/>
            <a:ext cx="5980839" cy="92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47"/>
              </a:lnSpc>
              <a:spcBef>
                <a:spcPct val="0"/>
              </a:spcBef>
            </a:pPr>
            <a:r>
              <a:rPr lang="en-US" sz="6947">
                <a:solidFill>
                  <a:srgbClr val="4A663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How it 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400" y="1462359"/>
            <a:ext cx="11555015" cy="882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738" indent="-386369" lvl="1">
              <a:lnSpc>
                <a:spcPts val="5010"/>
              </a:lnSpc>
              <a:buFont typeface="Arial"/>
              <a:buChar char="•"/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Users upload photos of their prescriptions to the system.</a:t>
            </a:r>
          </a:p>
          <a:p>
            <a:pPr algn="l" marL="772738" indent="-386369" lvl="1">
              <a:lnSpc>
                <a:spcPts val="5010"/>
              </a:lnSpc>
              <a:buFont typeface="Arial"/>
              <a:buChar char="•"/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SPARD reads and extracts medicine names using OCR.</a:t>
            </a:r>
          </a:p>
          <a:p>
            <a:pPr algn="l" marL="772738" indent="-386369" lvl="1">
              <a:lnSpc>
                <a:spcPts val="5010"/>
              </a:lnSpc>
              <a:buFont typeface="Arial"/>
              <a:buChar char="•"/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checks for allergy-related warnings based on user history or known allergies.</a:t>
            </a:r>
          </a:p>
          <a:p>
            <a:pPr algn="l" marL="772738" indent="-386369" lvl="1">
              <a:lnSpc>
                <a:spcPts val="5010"/>
              </a:lnSpc>
              <a:buFont typeface="Arial"/>
              <a:buChar char="•"/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SPARD compares medicines across both prescriptions.</a:t>
            </a:r>
          </a:p>
          <a:p>
            <a:pPr algn="l" marL="772738" indent="-386369" lvl="1">
              <a:lnSpc>
                <a:spcPts val="5010"/>
              </a:lnSpc>
              <a:buFont typeface="Arial"/>
              <a:buChar char="•"/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detects:</a:t>
            </a:r>
          </a:p>
          <a:p>
            <a:pPr algn="l">
              <a:lnSpc>
                <a:spcPts val="5010"/>
              </a:lnSpc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1. </a:t>
            </a: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duplicate medicines</a:t>
            </a:r>
          </a:p>
          <a:p>
            <a:pPr algn="l">
              <a:lnSpc>
                <a:spcPts val="5010"/>
              </a:lnSpc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2. </a:t>
            </a: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harmful drug combinations</a:t>
            </a:r>
          </a:p>
          <a:p>
            <a:pPr algn="l">
              <a:lnSpc>
                <a:spcPts val="5010"/>
              </a:lnSpc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3. </a:t>
            </a: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allergy risks</a:t>
            </a:r>
          </a:p>
          <a:p>
            <a:pPr algn="l" marL="772738" indent="-386369" lvl="1">
              <a:lnSpc>
                <a:spcPts val="5010"/>
              </a:lnSpc>
              <a:buFont typeface="Arial"/>
              <a:buChar char="•"/>
            </a:pPr>
            <a:r>
              <a:rPr lang="en-US" sz="3579" spc="-53">
                <a:solidFill>
                  <a:srgbClr val="4A663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then generates a clear, easy-to-understand safety report for the user.</a:t>
            </a:r>
          </a:p>
          <a:p>
            <a:pPr algn="l" marL="0" indent="0" lvl="0">
              <a:lnSpc>
                <a:spcPts val="50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A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BE2A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42975"/>
            <a:ext cx="659161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4A663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Tech stacks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65196"/>
            <a:ext cx="15900460" cy="717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3"/>
              </a:lnSpc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</a:p>
          <a:p>
            <a:pPr algn="l" marL="783304" indent="-391652" lvl="1">
              <a:lnSpc>
                <a:spcPts val="4353"/>
              </a:lnSpc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</a:p>
          <a:p>
            <a:pPr algn="l" marL="783304" indent="-391652" lvl="1">
              <a:lnSpc>
                <a:spcPts val="4353"/>
              </a:lnSpc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CSS</a:t>
            </a:r>
          </a:p>
          <a:p>
            <a:pPr algn="l" marL="783304" indent="-391652" lvl="1">
              <a:lnSpc>
                <a:spcPts val="4353"/>
              </a:lnSpc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</a:p>
          <a:p>
            <a:pPr algn="l">
              <a:lnSpc>
                <a:spcPts val="4353"/>
              </a:lnSpc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Back</a:t>
            </a: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  <a:p>
            <a:pPr algn="l" marL="783304" indent="-391652" lvl="1">
              <a:lnSpc>
                <a:spcPts val="4353"/>
              </a:lnSpc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Flask (Python REST API Framework)</a:t>
            </a:r>
          </a:p>
          <a:p>
            <a:pPr algn="l">
              <a:lnSpc>
                <a:spcPts val="4353"/>
              </a:lnSpc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Framework</a:t>
            </a:r>
          </a:p>
          <a:p>
            <a:pPr algn="l" marL="783304" indent="-391652" lvl="1">
              <a:lnSpc>
                <a:spcPts val="4353"/>
              </a:lnSpc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Tesseract.js</a:t>
            </a:r>
          </a:p>
          <a:p>
            <a:pPr algn="l">
              <a:lnSpc>
                <a:spcPts val="4353"/>
              </a:lnSpc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Core Processing</a:t>
            </a:r>
          </a:p>
          <a:p>
            <a:pPr algn="l" marL="783304" indent="-391652" lvl="1">
              <a:lnSpc>
                <a:spcPts val="4353"/>
              </a:lnSpc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Tesseract OCR (Extracting text from prescription images)</a:t>
            </a:r>
          </a:p>
          <a:p>
            <a:pPr algn="l">
              <a:lnSpc>
                <a:spcPts val="4353"/>
              </a:lnSpc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atabase</a:t>
            </a:r>
          </a:p>
          <a:p>
            <a:pPr algn="l" marL="783304" indent="-391652" lvl="1">
              <a:lnSpc>
                <a:spcPts val="4353"/>
              </a:lnSpc>
              <a:spcBef>
                <a:spcPct val="0"/>
              </a:spcBef>
              <a:buFont typeface="Arial"/>
              <a:buChar char="•"/>
            </a:pPr>
            <a:r>
              <a:rPr lang="en-US" sz="3628" spc="-54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SQLite</a:t>
            </a:r>
          </a:p>
          <a:p>
            <a:pPr algn="l" marL="0" indent="0" lvl="0">
              <a:lnSpc>
                <a:spcPts val="43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A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BE2A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05598" y="3602859"/>
            <a:ext cx="6898189" cy="149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</a:pPr>
            <a:r>
              <a:rPr lang="en-US" sz="9230" spc="-276">
                <a:solidFill>
                  <a:srgbClr val="4A663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Flow Diagram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26274" y="8324310"/>
            <a:ext cx="3789694" cy="933990"/>
            <a:chOff x="0" y="0"/>
            <a:chExt cx="998109" cy="245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8109" cy="245989"/>
            </a:xfrm>
            <a:custGeom>
              <a:avLst/>
              <a:gdLst/>
              <a:ahLst/>
              <a:cxnLst/>
              <a:rect r="r" b="b" t="t" l="l"/>
              <a:pathLst>
                <a:path h="245989" w="998109">
                  <a:moveTo>
                    <a:pt x="51072" y="0"/>
                  </a:moveTo>
                  <a:lnTo>
                    <a:pt x="947036" y="0"/>
                  </a:lnTo>
                  <a:cubicBezTo>
                    <a:pt x="960582" y="0"/>
                    <a:pt x="973572" y="5381"/>
                    <a:pt x="983150" y="14959"/>
                  </a:cubicBezTo>
                  <a:cubicBezTo>
                    <a:pt x="992728" y="24537"/>
                    <a:pt x="998109" y="37527"/>
                    <a:pt x="998109" y="51072"/>
                  </a:cubicBezTo>
                  <a:lnTo>
                    <a:pt x="998109" y="194917"/>
                  </a:lnTo>
                  <a:cubicBezTo>
                    <a:pt x="998109" y="208462"/>
                    <a:pt x="992728" y="221453"/>
                    <a:pt x="983150" y="231031"/>
                  </a:cubicBezTo>
                  <a:cubicBezTo>
                    <a:pt x="973572" y="240608"/>
                    <a:pt x="960582" y="245989"/>
                    <a:pt x="947036" y="245989"/>
                  </a:cubicBezTo>
                  <a:lnTo>
                    <a:pt x="51072" y="245989"/>
                  </a:lnTo>
                  <a:cubicBezTo>
                    <a:pt x="37527" y="245989"/>
                    <a:pt x="24537" y="240608"/>
                    <a:pt x="14959" y="231031"/>
                  </a:cubicBezTo>
                  <a:cubicBezTo>
                    <a:pt x="5381" y="221453"/>
                    <a:pt x="0" y="208462"/>
                    <a:pt x="0" y="194917"/>
                  </a:cubicBezTo>
                  <a:lnTo>
                    <a:pt x="0" y="51072"/>
                  </a:lnTo>
                  <a:cubicBezTo>
                    <a:pt x="0" y="37527"/>
                    <a:pt x="5381" y="24537"/>
                    <a:pt x="14959" y="14959"/>
                  </a:cubicBezTo>
                  <a:cubicBezTo>
                    <a:pt x="24537" y="5381"/>
                    <a:pt x="37527" y="0"/>
                    <a:pt x="51072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98109" cy="293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Generates safety report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18669" y="6206453"/>
            <a:ext cx="4004905" cy="1579538"/>
            <a:chOff x="0" y="0"/>
            <a:chExt cx="1054790" cy="416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4790" cy="416010"/>
            </a:xfrm>
            <a:custGeom>
              <a:avLst/>
              <a:gdLst/>
              <a:ahLst/>
              <a:cxnLst/>
              <a:rect r="r" b="b" t="t" l="l"/>
              <a:pathLst>
                <a:path h="416010" w="1054790">
                  <a:moveTo>
                    <a:pt x="48328" y="0"/>
                  </a:moveTo>
                  <a:lnTo>
                    <a:pt x="1006462" y="0"/>
                  </a:lnTo>
                  <a:cubicBezTo>
                    <a:pt x="1019279" y="0"/>
                    <a:pt x="1031572" y="5092"/>
                    <a:pt x="1040635" y="14155"/>
                  </a:cubicBezTo>
                  <a:cubicBezTo>
                    <a:pt x="1049698" y="23218"/>
                    <a:pt x="1054790" y="35510"/>
                    <a:pt x="1054790" y="48328"/>
                  </a:cubicBezTo>
                  <a:lnTo>
                    <a:pt x="1054790" y="367682"/>
                  </a:lnTo>
                  <a:cubicBezTo>
                    <a:pt x="1054790" y="380499"/>
                    <a:pt x="1049698" y="392792"/>
                    <a:pt x="1040635" y="401855"/>
                  </a:cubicBezTo>
                  <a:cubicBezTo>
                    <a:pt x="1031572" y="410918"/>
                    <a:pt x="1019279" y="416010"/>
                    <a:pt x="1006462" y="416010"/>
                  </a:cubicBezTo>
                  <a:lnTo>
                    <a:pt x="48328" y="416010"/>
                  </a:lnTo>
                  <a:cubicBezTo>
                    <a:pt x="35510" y="416010"/>
                    <a:pt x="23218" y="410918"/>
                    <a:pt x="14155" y="401855"/>
                  </a:cubicBezTo>
                  <a:cubicBezTo>
                    <a:pt x="5092" y="392792"/>
                    <a:pt x="0" y="380499"/>
                    <a:pt x="0" y="367682"/>
                  </a:cubicBezTo>
                  <a:lnTo>
                    <a:pt x="0" y="48328"/>
                  </a:lnTo>
                  <a:cubicBezTo>
                    <a:pt x="0" y="35510"/>
                    <a:pt x="5092" y="23218"/>
                    <a:pt x="14155" y="14155"/>
                  </a:cubicBezTo>
                  <a:cubicBezTo>
                    <a:pt x="23218" y="5092"/>
                    <a:pt x="35510" y="0"/>
                    <a:pt x="48328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54790" cy="46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Checks for risks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Energy Conflicts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Drug-drug interaction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88060" y="4526747"/>
            <a:ext cx="6582629" cy="1141388"/>
            <a:chOff x="0" y="0"/>
            <a:chExt cx="1733696" cy="3006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3697" cy="300612"/>
            </a:xfrm>
            <a:custGeom>
              <a:avLst/>
              <a:gdLst/>
              <a:ahLst/>
              <a:cxnLst/>
              <a:rect r="r" b="b" t="t" l="l"/>
              <a:pathLst>
                <a:path h="300612" w="1733697">
                  <a:moveTo>
                    <a:pt x="29403" y="0"/>
                  </a:moveTo>
                  <a:lnTo>
                    <a:pt x="1704294" y="0"/>
                  </a:lnTo>
                  <a:cubicBezTo>
                    <a:pt x="1720532" y="0"/>
                    <a:pt x="1733697" y="13164"/>
                    <a:pt x="1733697" y="29403"/>
                  </a:cubicBezTo>
                  <a:lnTo>
                    <a:pt x="1733697" y="271210"/>
                  </a:lnTo>
                  <a:cubicBezTo>
                    <a:pt x="1733697" y="287448"/>
                    <a:pt x="1720532" y="300612"/>
                    <a:pt x="1704294" y="300612"/>
                  </a:cubicBezTo>
                  <a:lnTo>
                    <a:pt x="29403" y="300612"/>
                  </a:lnTo>
                  <a:cubicBezTo>
                    <a:pt x="13164" y="300612"/>
                    <a:pt x="0" y="287448"/>
                    <a:pt x="0" y="271210"/>
                  </a:cubicBezTo>
                  <a:lnTo>
                    <a:pt x="0" y="29403"/>
                  </a:lnTo>
                  <a:cubicBezTo>
                    <a:pt x="0" y="13164"/>
                    <a:pt x="13164" y="0"/>
                    <a:pt x="29403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33696" cy="34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System Identifies medicines from database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61711" y="2823788"/>
            <a:ext cx="3918820" cy="1141388"/>
            <a:chOff x="0" y="0"/>
            <a:chExt cx="1032117" cy="3006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2117" cy="300612"/>
            </a:xfrm>
            <a:custGeom>
              <a:avLst/>
              <a:gdLst/>
              <a:ahLst/>
              <a:cxnLst/>
              <a:rect r="r" b="b" t="t" l="l"/>
              <a:pathLst>
                <a:path h="300612" w="1032117">
                  <a:moveTo>
                    <a:pt x="49389" y="0"/>
                  </a:moveTo>
                  <a:lnTo>
                    <a:pt x="982728" y="0"/>
                  </a:lnTo>
                  <a:cubicBezTo>
                    <a:pt x="995827" y="0"/>
                    <a:pt x="1008389" y="5204"/>
                    <a:pt x="1017651" y="14466"/>
                  </a:cubicBezTo>
                  <a:cubicBezTo>
                    <a:pt x="1026914" y="23728"/>
                    <a:pt x="1032117" y="36290"/>
                    <a:pt x="1032117" y="49389"/>
                  </a:cubicBezTo>
                  <a:lnTo>
                    <a:pt x="1032117" y="251223"/>
                  </a:lnTo>
                  <a:cubicBezTo>
                    <a:pt x="1032117" y="278500"/>
                    <a:pt x="1010005" y="300612"/>
                    <a:pt x="982728" y="300612"/>
                  </a:cubicBezTo>
                  <a:lnTo>
                    <a:pt x="49389" y="300612"/>
                  </a:lnTo>
                  <a:cubicBezTo>
                    <a:pt x="22112" y="300612"/>
                    <a:pt x="0" y="278500"/>
                    <a:pt x="0" y="251223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2117" cy="34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OCR Reads medicines from image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49091" y="1100162"/>
            <a:ext cx="3144061" cy="1141388"/>
            <a:chOff x="0" y="0"/>
            <a:chExt cx="828065" cy="3006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8065" cy="300612"/>
            </a:xfrm>
            <a:custGeom>
              <a:avLst/>
              <a:gdLst/>
              <a:ahLst/>
              <a:cxnLst/>
              <a:rect r="r" b="b" t="t" l="l"/>
              <a:pathLst>
                <a:path h="300612" w="828065">
                  <a:moveTo>
                    <a:pt x="61560" y="0"/>
                  </a:moveTo>
                  <a:lnTo>
                    <a:pt x="766505" y="0"/>
                  </a:lnTo>
                  <a:cubicBezTo>
                    <a:pt x="782832" y="0"/>
                    <a:pt x="798490" y="6486"/>
                    <a:pt x="810035" y="18030"/>
                  </a:cubicBezTo>
                  <a:cubicBezTo>
                    <a:pt x="821580" y="29575"/>
                    <a:pt x="828065" y="45233"/>
                    <a:pt x="828065" y="61560"/>
                  </a:cubicBezTo>
                  <a:lnTo>
                    <a:pt x="828065" y="239052"/>
                  </a:lnTo>
                  <a:cubicBezTo>
                    <a:pt x="828065" y="255379"/>
                    <a:pt x="821580" y="271037"/>
                    <a:pt x="810035" y="282582"/>
                  </a:cubicBezTo>
                  <a:cubicBezTo>
                    <a:pt x="798490" y="294127"/>
                    <a:pt x="782832" y="300612"/>
                    <a:pt x="766505" y="300612"/>
                  </a:cubicBezTo>
                  <a:lnTo>
                    <a:pt x="61560" y="300612"/>
                  </a:lnTo>
                  <a:cubicBezTo>
                    <a:pt x="45233" y="300612"/>
                    <a:pt x="29575" y="294127"/>
                    <a:pt x="18030" y="282582"/>
                  </a:cubicBezTo>
                  <a:cubicBezTo>
                    <a:pt x="6486" y="271037"/>
                    <a:pt x="0" y="255379"/>
                    <a:pt x="0" y="239052"/>
                  </a:cubicBezTo>
                  <a:lnTo>
                    <a:pt x="0" y="61560"/>
                  </a:lnTo>
                  <a:cubicBezTo>
                    <a:pt x="0" y="45233"/>
                    <a:pt x="6486" y="29575"/>
                    <a:pt x="18030" y="18030"/>
                  </a:cubicBezTo>
                  <a:cubicBezTo>
                    <a:pt x="29575" y="6486"/>
                    <a:pt x="45233" y="0"/>
                    <a:pt x="61560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28065" cy="34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A663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 Uploads prescription photo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204774" y="2241550"/>
            <a:ext cx="574601" cy="57460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33821" y="3974700"/>
            <a:ext cx="574601" cy="57460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04774" y="5677660"/>
            <a:ext cx="574601" cy="57460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233821" y="7749709"/>
            <a:ext cx="574601" cy="57460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A0C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BE2A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42975"/>
            <a:ext cx="659161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4A663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84400"/>
            <a:ext cx="12859174" cy="528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7318" indent="-358659" lvl="1">
              <a:lnSpc>
                <a:spcPts val="4651"/>
              </a:lnSpc>
              <a:spcBef>
                <a:spcPct val="0"/>
              </a:spcBef>
              <a:buFont typeface="Arial"/>
              <a:buChar char="•"/>
            </a:pPr>
            <a:r>
              <a:rPr lang="en-US" sz="3322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Medication safety sh</a:t>
            </a:r>
            <a:r>
              <a:rPr lang="en-US" sz="3322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ould not depend on memory, luck, or assumptions.</a:t>
            </a:r>
          </a:p>
          <a:p>
            <a:pPr algn="just" marL="717318" indent="-358659" lvl="1">
              <a:lnSpc>
                <a:spcPts val="4651"/>
              </a:lnSpc>
              <a:spcBef>
                <a:spcPct val="0"/>
              </a:spcBef>
              <a:buFont typeface="Arial"/>
              <a:buChar char="•"/>
            </a:pPr>
            <a:r>
              <a:rPr lang="en-US" sz="3322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SPARD transforms prescriptions into meaningful, actionable safety insights.</a:t>
            </a:r>
          </a:p>
          <a:p>
            <a:pPr algn="just" marL="717318" indent="-358659" lvl="1">
              <a:lnSpc>
                <a:spcPts val="4651"/>
              </a:lnSpc>
              <a:spcBef>
                <a:spcPct val="0"/>
              </a:spcBef>
              <a:buFont typeface="Arial"/>
              <a:buChar char="•"/>
            </a:pPr>
            <a:r>
              <a:rPr lang="en-US" sz="3322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It empowers patients, supports doctors, and prevents avoidable harm.</a:t>
            </a:r>
          </a:p>
          <a:p>
            <a:pPr algn="just" marL="717318" indent="-358659" lvl="1">
              <a:lnSpc>
                <a:spcPts val="4651"/>
              </a:lnSpc>
              <a:spcBef>
                <a:spcPct val="0"/>
              </a:spcBef>
              <a:buFont typeface="Arial"/>
              <a:buChar char="•"/>
            </a:pPr>
            <a:r>
              <a:rPr lang="en-US" sz="3322">
                <a:solidFill>
                  <a:srgbClr val="4A663D"/>
                </a:solidFill>
                <a:latin typeface="Montserrat"/>
                <a:ea typeface="Montserrat"/>
                <a:cs typeface="Montserrat"/>
                <a:sym typeface="Montserrat"/>
              </a:rPr>
              <a:t>With SPARD, every prescription becomes safer, smarter, and more transparent.</a:t>
            </a:r>
          </a:p>
          <a:p>
            <a:pPr algn="just">
              <a:lnSpc>
                <a:spcPts val="46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Smart Healthcare Companion</dc:description>
  <dc:identifier>DAG59p2dKtM</dc:identifier>
  <dcterms:modified xsi:type="dcterms:W3CDTF">2011-08-01T06:04:30Z</dcterms:modified>
  <cp:revision>1</cp:revision>
  <dc:title>Presentation - Smart Healthcare Companion</dc:title>
</cp:coreProperties>
</file>